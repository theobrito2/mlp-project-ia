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86cab9e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86cab9e8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86cab9e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86cab9e8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86cab9e8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86cab9e8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86cab9e8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86cab9e8e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86cab9e8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86cab9e8e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Calibri"/>
              <a:buNone/>
              <a:defRPr b="0" sz="8000">
                <a:solidFill>
                  <a:srgbClr val="FEFEF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5" name="Google Shape;55;p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8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8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9" name="Google Shape;89;p11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6" name="Google Shape;96;p12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97" name="Google Shape;97;p12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" name="Google Shape;31;p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E7E5B"/>
            </a:gs>
            <a:gs pos="65000">
              <a:srgbClr val="596945"/>
            </a:gs>
            <a:gs pos="100000">
              <a:srgbClr val="465237"/>
            </a:gs>
          </a:gsLst>
          <a:lin ang="1620000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6E7E5B"/>
              </a:gs>
              <a:gs pos="65000">
                <a:srgbClr val="596945"/>
              </a:gs>
              <a:gs pos="100000">
                <a:srgbClr val="465237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>
            <p:ph type="title"/>
          </p:nvPr>
        </p:nvSpPr>
        <p:spPr>
          <a:xfrm>
            <a:off x="215841" y="736600"/>
            <a:ext cx="4230617" cy="49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libri"/>
              <a:buNone/>
            </a:pPr>
            <a:r>
              <a:rPr lang="en-US" sz="6800">
                <a:solidFill>
                  <a:srgbClr val="FFFFFF"/>
                </a:solidFill>
              </a:rPr>
              <a:t>MLP</a:t>
            </a:r>
            <a:br>
              <a:rPr lang="en-US" sz="6800">
                <a:solidFill>
                  <a:srgbClr val="FFFFFF"/>
                </a:solidFill>
              </a:rPr>
            </a:br>
            <a:br>
              <a:rPr lang="en-US" sz="6800">
                <a:solidFill>
                  <a:srgbClr val="FFFFFF"/>
                </a:solidFill>
              </a:rPr>
            </a:br>
            <a:br>
              <a:rPr lang="en-US" sz="6800">
                <a:solidFill>
                  <a:srgbClr val="FFFFFF"/>
                </a:solidFill>
              </a:rPr>
            </a:br>
            <a:r>
              <a:rPr lang="en-US" sz="4400">
                <a:solidFill>
                  <a:srgbClr val="FFFFFF"/>
                </a:solidFill>
              </a:rPr>
              <a:t>Implementações</a:t>
            </a:r>
            <a:endParaRPr sz="6800">
              <a:solidFill>
                <a:srgbClr val="FFFFFF"/>
              </a:solidFill>
            </a:endParaRPr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4893170" y="1739107"/>
            <a:ext cx="6987234" cy="4439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FFFFFF"/>
                </a:solidFill>
              </a:rPr>
              <a:t>13688367</a:t>
            </a:r>
            <a:r>
              <a:rPr lang="en-US" sz="2800">
                <a:solidFill>
                  <a:srgbClr val="FFFFFF"/>
                </a:solidFill>
              </a:rPr>
              <a:t> – THÉO DJRDJRJAN BRITO</a:t>
            </a:r>
            <a:endParaRPr sz="2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i="1" lang="en-US" sz="2800">
                <a:solidFill>
                  <a:srgbClr val="FFFFFF"/>
                </a:solidFill>
              </a:rPr>
              <a:t>APRESENTADOR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FFFFFF"/>
                </a:solidFill>
              </a:rPr>
              <a:t>NO. USP – NOME INTEGRANTE 5 </a:t>
            </a:r>
            <a:r>
              <a:rPr i="1" lang="en-US" sz="2800">
                <a:solidFill>
                  <a:srgbClr val="FFFFFF"/>
                </a:solidFill>
              </a:rPr>
              <a:t>APRESENTADOR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Estruturas de dados e programação</a:t>
            </a:r>
            <a:endParaRPr/>
          </a:p>
        </p:txBody>
      </p:sp>
      <p:sp>
        <p:nvSpPr>
          <p:cNvPr id="132" name="Google Shape;132;p1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76238" lvl="0" marL="898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Camada de entrada da rede neural: O problema de reconhecimento de caractere é tratado transformando a imagem (10×12) em 120 pixels. Cada pixel é uma entrada (array), sendo normalizado do intervalo [-1, 1] para [0, 1].</a:t>
            </a:r>
            <a:endParaRPr/>
          </a:p>
          <a:p>
            <a:pPr indent="-376238" lvl="0" marL="898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Camada de saída da rede neural: Possui 26 neurônios operando sob a abordagem one-hot (A–Z). Cada neurônio representa a probabilidade de uma letra específica.</a:t>
            </a:r>
            <a:endParaRPr/>
          </a:p>
          <a:p>
            <a:pPr indent="-376238" lvl="0" marL="898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Camada escondida da rede neural: Composta por um vetor de ativações sigmoides (ex: 32 ou 64 neurônios).</a:t>
            </a:r>
            <a:endParaRPr/>
          </a:p>
          <a:p>
            <a:pPr indent="-376238" lvl="0" marL="898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Matrizes de pesos: Representadas bidimensionalmente: W1 (oculta × entrada), W2 (saída × oculta) e os vetores de bias b1 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Estruturas de dados e programação</a:t>
            </a:r>
            <a:endParaRPr/>
          </a:p>
        </p:txBody>
      </p:sp>
      <p:sp>
        <p:nvSpPr>
          <p:cNvPr id="138" name="Google Shape;138;p17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000"/>
              <a:t>Em src/mlp.py:</a:t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475" y="2838450"/>
            <a:ext cx="10137050" cy="18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Estruturas de dados e programação</a:t>
            </a:r>
            <a:endParaRPr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46" name="Google Shape;146;p18" title="Figure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9338" y="2254875"/>
            <a:ext cx="4273325" cy="3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Feedforward e cálculo do erro da rede</a:t>
            </a:r>
            <a:endParaRPr/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A fase de propagação é calculada vetorizada multiplicando a matriz de pesos pelas entradas (z = W·x + b) passando pela ativação sigmoide.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Em src/mlp.py:</a:t>
            </a:r>
            <a:endParaRPr/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248" y="3581075"/>
            <a:ext cx="5789526" cy="18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Feedforward e cálculo do erro da rede</a:t>
            </a:r>
            <a:endParaRPr/>
          </a:p>
        </p:txBody>
      </p:sp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O erro avaliado é o Erro Quadrático Médio (MSE).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Em scripts/main.py:</a:t>
            </a:r>
            <a:endParaRPr/>
          </a:p>
        </p:txBody>
      </p:sp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5227" y="3409650"/>
            <a:ext cx="6288800" cy="22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Backpropagation – cálculo do erro para retropropagação</a:t>
            </a:r>
            <a:endParaRPr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Na camada de saída, calculamos o erro subtraindo a saída final do alvo esperado (alvo - saída). O delta é obtido multiplicando esse erro pela derivada da sigmoide sig'(s) = s(1 - s).</a:t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Em src/mlp.py:  </a:t>
            </a:r>
            <a:endParaRPr sz="3000"/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750" y="4163703"/>
            <a:ext cx="8124850" cy="10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Backpropagation – contribuição do erro na camada escondida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O erro é retropropagado para a camada escondida através do produto da matriz transposta de pesos da saída (W2.T) pelo delta_saida. O resultado é multiplicado pela derivada da sigmoide da camada oculta.</a:t>
            </a:r>
            <a:endParaRPr sz="3000"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t/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Em src/mlp.py:</a:t>
            </a:r>
            <a:endParaRPr sz="3000"/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200" y="4538328"/>
            <a:ext cx="8221325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Atualização de pesos sinápticos</a:t>
            </a:r>
            <a:endParaRPr/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Utilizamos a regra delta generalizada (descida do gradiente). A alteração é feita multiplicando a taxa de aprendizado (lr) pelo produto externo (np.outer) do delta com os dados da camada anterior.</a:t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Em src/mlp.py: </a:t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81" name="Google Shape;18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1875" y="3908881"/>
            <a:ext cx="6354175" cy="13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Atualização de pesos sinápticos</a:t>
            </a:r>
            <a:endParaRPr/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Resultados do teste_de_mesa.py :</a:t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651" y="1845726"/>
            <a:ext cx="3512800" cy="423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Resposta de reconhecimento de caractere</a:t>
            </a:r>
            <a:endParaRPr/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>
                <a:solidFill>
                  <a:srgbClr val="000000"/>
                </a:solidFill>
              </a:rPr>
              <a:t>Como o objetivo é classificar a letra, discretizamos a saída procurando o índice do neurônio com o valor mais alto de ativação (argmax). Esse índice é mapeado para a tabela ASCII (onde 0 = A, 1 = B, etc).</a:t>
            </a:r>
            <a:endParaRPr sz="3000">
              <a:solidFill>
                <a:srgbClr val="000000"/>
              </a:solidFill>
            </a:endParaRPr>
          </a:p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 "/>
            </a:pPr>
            <a:r>
              <a:rPr lang="en-US" sz="3000">
                <a:solidFill>
                  <a:srgbClr val="000000"/>
                </a:solidFill>
              </a:rPr>
              <a:t>Em scripts/main.py: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638" y="4174328"/>
            <a:ext cx="7119674" cy="10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Determinação de parâmetros</a:t>
            </a:r>
            <a:endParaRPr/>
          </a:p>
        </p:txBody>
      </p:sp>
      <p:sp>
        <p:nvSpPr>
          <p:cNvPr id="201" name="Google Shape;201;p2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Como os parâmetros são determinados: Eles são instanciados por constantes no cabeçalho do arquivo main.py (SEED, MAX_EPOCAS, PACIENCIA, TOLERANCIA). Há uma flag chamada EXECUTAR_BUSCA para varredura automática.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O que é possível variar: Taxa de aprendizado, número de neurônios ocultos, intensidade de ruído, máximo de épocas, paciência e tolerância da parada.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Busca: É realizada uma estrutura de Grid Search, executando combinações completas. A melhor arquitetura é escolhida com base no menor MSE no conjunto de validação.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5275" y="4471554"/>
            <a:ext cx="5502394" cy="14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Dinâmica de treinamento e teste</a:t>
            </a:r>
            <a:endParaRPr/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1097280" y="1845734"/>
            <a:ext cx="10058400" cy="4542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Apresente uma visão geral da sua implementação, no que diz respeito à execução do treinamento e do teste da MLP – sempre se refira a treinamento e teste com o conjunto de dados CARACTERES COMPLETO.</a:t>
            </a:r>
            <a:endParaRPr/>
          </a:p>
          <a:p>
            <a:pPr indent="-263525" lvl="0" marL="8016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Hardware (ou hardwares) utilizados para executar os experimentos de treinamento.</a:t>
            </a:r>
            <a:endParaRPr/>
          </a:p>
          <a:p>
            <a:pPr indent="-263525" lvl="0" marL="8016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Tempo gasto (em cada hardware) para executar alguns treinamentos, considerando algumas variações, como: </a:t>
            </a:r>
            <a:endParaRPr/>
          </a:p>
          <a:p>
            <a:pPr indent="-263525" lvl="1" marL="109429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quantidade de neurônios na camada escondida X tempo de execução X quantidade de épocas </a:t>
            </a:r>
            <a:endParaRPr/>
          </a:p>
          <a:p>
            <a:pPr indent="-2635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valores para taxa de aprendizado X tempo de execução X quantidade de épocas </a:t>
            </a:r>
            <a:endParaRPr/>
          </a:p>
          <a:p>
            <a:pPr indent="-2635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quantidade de épocas x tempo de execução</a:t>
            </a:r>
            <a:endParaRPr/>
          </a:p>
          <a:p>
            <a:pPr indent="-2635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outras questões que você achar interessante</a:t>
            </a:r>
            <a:endParaRPr/>
          </a:p>
          <a:p>
            <a:pPr indent="-1492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  <a:p>
            <a:pPr indent="-1492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1" marL="830771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/>
              <a:t>Sugere-se a apresentação de resultados na forma de tabelas, acompanhadas, é claro, de análises críticas realizadas na explicação do aluno – registrada no vídeo.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Dinâmica de treinamento e teste</a:t>
            </a:r>
            <a:endParaRPr/>
          </a:p>
        </p:txBody>
      </p:sp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1097277" y="1845725"/>
            <a:ext cx="5711400" cy="4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Visão geral: Focamos os testes principais no conjunto CARACTERES COMPLETO. Graças à vetorização com o numpy, reduzimos o tempo de execução por época de ~2,2s para ~0,025s (86 vezes mais rápido).</a:t>
            </a:r>
            <a:endParaRPr sz="2000"/>
          </a:p>
          <a:p>
            <a:pPr indent="0" lvl="0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Hardware utilizado: </a:t>
            </a:r>
            <a:r>
              <a:rPr lang="en-US"/>
              <a:t>Windows 11, Processador i7-13700K, RAM 32GB DDR4</a:t>
            </a:r>
            <a:r>
              <a:rPr lang="en-US" sz="2000"/>
              <a:t>.</a:t>
            </a:r>
            <a:endParaRPr sz="2000"/>
          </a:p>
          <a:p>
            <a:pPr indent="0" lvl="0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Tempos: Uma execução completa (main.py) leva aproximadamente entre 8 e 1</a:t>
            </a:r>
            <a:r>
              <a:rPr lang="en-US"/>
              <a:t>2</a:t>
            </a:r>
            <a:r>
              <a:rPr lang="en-US" sz="2000"/>
              <a:t> segundos.</a:t>
            </a:r>
            <a:endParaRPr sz="2000"/>
          </a:p>
        </p:txBody>
      </p:sp>
      <p:pic>
        <p:nvPicPr>
          <p:cNvPr id="215" name="Google Shape;2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675" y="1925775"/>
            <a:ext cx="4054500" cy="41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Treinamento e parada antecipada</a:t>
            </a:r>
            <a:endParaRPr/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1097280" y="1845733"/>
            <a:ext cx="10058400" cy="4367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Apresente pelo menos duas execuções, ou parte delas, ilustrando via visualização do seu terminal ou da interface gráfica. Você pode navegar entre seu terminal e os slides, ou você pode incorporar aqui um video da execução.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Faça destaque para a convergência do ERRO da rede, tanto para o conjunto de treinamento quanto para o conjunto de validação. Ao final, mostre o erro no conjunto de teste.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Informe: </a:t>
            </a:r>
            <a:endParaRPr/>
          </a:p>
          <a:p>
            <a:pPr indent="-263525" lvl="0" marL="8016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a parametrização da rede nessa execução, e faça destaque para a convergência dos pesos. </a:t>
            </a:r>
            <a:endParaRPr/>
          </a:p>
          <a:p>
            <a:pPr indent="-263525" lvl="0" marL="8016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qual é o seu conjunto de treinamento</a:t>
            </a:r>
            <a:endParaRPr/>
          </a:p>
          <a:p>
            <a:pPr indent="-263525" lvl="0" marL="8016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qual é o seu conjunto de validação</a:t>
            </a:r>
            <a:endParaRPr/>
          </a:p>
          <a:p>
            <a:pPr indent="-263525" lvl="0" marL="8016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qual é o seu conjunto de teste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Parada antecipada</a:t>
            </a:r>
            <a:endParaRPr/>
          </a:p>
        </p:txBody>
      </p:sp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1097278" y="1845725"/>
            <a:ext cx="4687200" cy="47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O erro minimizado foi o Erro Quadrático Médio (MSE).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Se a rede convergisse rápido demais ou de modo facilitado, o ambiente de experimentação foi dificultado inserindo a função adicionar_ruido(X, intensidade) nos dados de teste para avaliar a consistência da estabilização dos pesos.</a:t>
            </a:r>
            <a:endParaRPr/>
          </a:p>
        </p:txBody>
      </p:sp>
      <p:pic>
        <p:nvPicPr>
          <p:cNvPr id="228" name="Google Shape;228;p30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8451" y="2402077"/>
            <a:ext cx="4817226" cy="36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Matriz de confusão</a:t>
            </a:r>
            <a:endParaRPr/>
          </a:p>
        </p:txBody>
      </p:sp>
      <p:sp>
        <p:nvSpPr>
          <p:cNvPr id="234" name="Google Shape;234;p31"/>
          <p:cNvSpPr txBox="1"/>
          <p:nvPr>
            <p:ph idx="1" type="body"/>
          </p:nvPr>
        </p:nvSpPr>
        <p:spPr>
          <a:xfrm>
            <a:off x="1066800" y="1870775"/>
            <a:ext cx="4995000" cy="43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Nas execuções submetidas a maior taxa de ruído nos dados, verificamos agrupamentos de confusões previsíveis pela similaridade das formas na grade 10x12. </a:t>
            </a:r>
            <a:endParaRPr/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800" y="3710875"/>
            <a:ext cx="4307000" cy="169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1" title="Figure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700" y="2108761"/>
            <a:ext cx="4446974" cy="38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Implementações adicionais</a:t>
            </a:r>
            <a:endParaRPr/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Implementação do particionamento Hold Out gerando splits de Treino, Validação e Teste independentes.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Teste da mesma classe base em outros cenários: Portas Lógicas (AND / OR / XOR) e conjunto Caracteres da Fausett puro.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Módulo adicional de extração de métricas de classificação binária (Matriz de confusão para duas classes, cálculo de Precisão, Revocação e F1-Score no arquivo src/metricas.py).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Refatoração intensiva para Vetorização com Numpy, trocando laços for por operações matriciais, o que agregou quase ~86x mais velocidade de execução.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Algoritmo validado step-by-step contra o material de apoio utilizando arquivo próprio teste_de_mesa.py.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Faz esses slides se na sua parte do video der tempo, se não apaga esse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E7E5B"/>
            </a:gs>
            <a:gs pos="65000">
              <a:srgbClr val="596945"/>
            </a:gs>
            <a:gs pos="100000">
              <a:srgbClr val="465237"/>
            </a:gs>
          </a:gsLst>
          <a:lin ang="16200000" scaled="0"/>
        </a:gra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3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3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6E7E5B"/>
              </a:gs>
              <a:gs pos="65000">
                <a:srgbClr val="596945"/>
              </a:gs>
              <a:gs pos="100000">
                <a:srgbClr val="465237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4893170" y="1739107"/>
            <a:ext cx="6987234" cy="4439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13688367</a:t>
            </a:r>
            <a:r>
              <a:rPr lang="en-US" sz="28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THÉO DJRDJRJAN BRITO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i="1" lang="en-US" sz="28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APRESENTADOR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28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NO. USP – NOME INTEGRANTE 5 </a:t>
            </a:r>
            <a:r>
              <a:rPr i="1" lang="en-US" sz="28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APRESENTADOR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t/>
            </a:r>
            <a:endParaRPr sz="2800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sz="2000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 txBox="1"/>
          <p:nvPr>
            <p:ph type="title"/>
          </p:nvPr>
        </p:nvSpPr>
        <p:spPr>
          <a:xfrm>
            <a:off x="215841" y="736600"/>
            <a:ext cx="4230617" cy="49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libri"/>
              <a:buNone/>
            </a:pPr>
            <a:r>
              <a:rPr lang="en-US" sz="6800">
                <a:solidFill>
                  <a:srgbClr val="FFFFFF"/>
                </a:solidFill>
              </a:rPr>
              <a:t>MLP</a:t>
            </a:r>
            <a:br>
              <a:rPr lang="en-US" sz="6800">
                <a:solidFill>
                  <a:srgbClr val="FFFFFF"/>
                </a:solidFill>
              </a:rPr>
            </a:br>
            <a:br>
              <a:rPr lang="en-US" sz="6800">
                <a:solidFill>
                  <a:srgbClr val="FFFFFF"/>
                </a:solidFill>
              </a:rPr>
            </a:br>
            <a:br>
              <a:rPr lang="en-US" sz="6800">
                <a:solidFill>
                  <a:srgbClr val="FFFFFF"/>
                </a:solidFill>
              </a:rPr>
            </a:br>
            <a:r>
              <a:rPr lang="en-US" sz="4400">
                <a:solidFill>
                  <a:srgbClr val="FFFFFF"/>
                </a:solidFill>
              </a:rPr>
              <a:t>Implementações</a:t>
            </a:r>
            <a:endParaRPr sz="6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